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Merriweather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CE9831-B36F-4B80-A02C-7AC3AB647303}">
  <a:tblStyle styleId="{E0CE9831-B36F-4B80-A02C-7AC3AB6473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60ABD88-29C2-4A1A-A379-25C1C19B750E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italic.fntdata"/><Relationship Id="rId30" Type="http://schemas.openxmlformats.org/officeDocument/2006/relationships/font" Target="fonts/Merriweather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Merriweath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5cac93bd4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e5cac93bd4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e5cac93bd4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5cac93bd4_2_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e5cac93bd4_2_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e5cac93bd4_2_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5cac93bd4_2_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e5cac93bd4_2_3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e5cac93bd4_2_3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5cac93bd4_2_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e5cac93bd4_2_5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e5cac93bd4_2_5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5cac93bd4_2_6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e5cac93bd4_2_6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e5cac93bd4_2_6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5cac93bd4_2_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e5cac93bd4_2_8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e5cac93bd4_2_8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5cac93bd4_2_9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e5cac93bd4_2_9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e5cac93bd4_2_9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5cac93bd4_2_1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e5cac93bd4_2_1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e5cac93bd4_2_1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5e3b595ef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e5e3b595ef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e5e3b595ef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70c2d235a_0_6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e70c2d235a_0_6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e70c2d235a_0_6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5cac93bd4_2_1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e5cac93bd4_2_12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e5cac93bd4_2_12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5cac93bd4_2_1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e5cac93bd4_2_1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e5cac93bd4_2_1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5e3b595ef_0_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e5e3b595ef_0_5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e5e3b595ef_0_5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5e3b595ef_0_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e5e3b595ef_0_6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e5e3b595ef_0_6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5e3b595ef_0_7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e5e3b595ef_0_7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e5e3b595ef_0_7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5e3b595ef_0_9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e5e3b595ef_0_9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e5e3b595ef_0_9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5cac93bd4_2_15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e5cac93bd4_2_15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e5cac93bd4_2_15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5cac93bd4_2_18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e5cac93bd4_2_18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e5cac93bd4_2_18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5" Type="http://schemas.openxmlformats.org/officeDocument/2006/relationships/image" Target="../media/image22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B45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548640" y="91440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Static Analysis of Spring PetClinic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5"/>
              </a:buClr>
              <a:buSzPts val="1600"/>
              <a:buFont typeface="Calibri"/>
              <a:buNone/>
            </a:pPr>
            <a:r>
              <a:rPr b="0" i="0" lang="en-GB" sz="1600" u="none" cap="none" strike="noStrike">
                <a:solidFill>
                  <a:srgbClr val="CADCF5"/>
                </a:solidFill>
                <a:latin typeface="Calibri"/>
                <a:ea typeface="Calibri"/>
                <a:cs typeface="Calibri"/>
                <a:sym typeface="Calibri"/>
              </a:rPr>
              <a:t>Task </a:t>
            </a:r>
            <a:r>
              <a:rPr lang="en-GB" sz="1600">
                <a:solidFill>
                  <a:srgbClr val="CADCF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GB" sz="1600" u="none" cap="none" strike="noStrike">
                <a:solidFill>
                  <a:srgbClr val="CADC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>
                <a:solidFill>
                  <a:srgbClr val="CADCF5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GB" sz="1600" u="none" cap="none" strike="noStrike">
                <a:solidFill>
                  <a:srgbClr val="CADCF5"/>
                </a:solidFill>
                <a:latin typeface="Calibri"/>
                <a:ea typeface="Calibri"/>
                <a:cs typeface="Calibri"/>
                <a:sym typeface="Calibri"/>
              </a:rPr>
              <a:t>SonarQube &amp; jQAssistant Analysis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548640" y="23774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FC1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FPSS · TU Dresden · Group 15</a:t>
            </a:r>
            <a:endParaRPr b="0" i="0" sz="11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274320" y="32918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F63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2B3F63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274320" y="3566160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Analyze code quality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Analyze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Evaluate future-proof 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Find strengths &amp; weaknesses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3246120" y="32918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F63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2B3F63"/>
                </a:solidFill>
                <a:latin typeface="Calibri"/>
                <a:ea typeface="Calibri"/>
                <a:cs typeface="Calibri"/>
                <a:sym typeface="Calibri"/>
              </a:rPr>
              <a:t>Tools Used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3246120" y="3566160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SonarQube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jQAssistant + Neo4j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Cypher Queries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GitHub CI/CD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6217920" y="32918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F63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2B3F63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6217920" y="3566160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Spring PetClinic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Group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B45"/>
          </a:solidFill>
          <a:ln cap="flat" cmpd="sng" w="12700">
            <a:solidFill>
              <a:srgbClr val="1E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20040" y="1097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SonarQube Results Overview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175" y="1139201"/>
            <a:ext cx="8839200" cy="3858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1E2B45"/>
          </a:solidFill>
          <a:ln cap="flat" cmpd="sng" w="12700">
            <a:solidFill>
              <a:srgbClr val="1E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320040" y="1097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Can SonarQube Detect Weaknesses?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55000" y="1116900"/>
            <a:ext cx="4206300" cy="3888300"/>
          </a:xfrm>
          <a:prstGeom prst="rect">
            <a:avLst/>
          </a:prstGeom>
          <a:solidFill>
            <a:srgbClr val="F4F8FE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154990" y="1152260"/>
            <a:ext cx="4206300" cy="255900"/>
          </a:xfrm>
          <a:prstGeom prst="rect">
            <a:avLst/>
          </a:prstGeom>
          <a:solidFill>
            <a:srgbClr val="2B3F63"/>
          </a:solidFill>
          <a:ln cap="flat" cmpd="sng" w="12700">
            <a:solidFill>
              <a:srgbClr val="2B3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237352" y="1129226"/>
            <a:ext cx="5022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WEAKNESSES DETECTED</a:t>
            </a:r>
            <a:endParaRPr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237350" y="1495100"/>
            <a:ext cx="4901400" cy="14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Code smells &amp; maintainability issues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Duplicated code blocks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Low test coverage gaps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Potential</a:t>
            </a:r>
            <a:r>
              <a:rPr lang="en-GB" sz="1200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bugs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Security vulnerabilities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Technical debt accumulation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237358" y="3505737"/>
            <a:ext cx="3977700" cy="24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Early detection of quality problems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Continuous quality monitoring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CI/CD pipeline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Long-term maintainability support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Cognitive complexity scoring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Management-friendly debt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54990" y="3176710"/>
            <a:ext cx="4206300" cy="255900"/>
          </a:xfrm>
          <a:prstGeom prst="rect">
            <a:avLst/>
          </a:prstGeom>
          <a:solidFill>
            <a:srgbClr val="2B3F63"/>
          </a:solidFill>
          <a:ln cap="flat" cmpd="sng" w="12700">
            <a:solidFill>
              <a:srgbClr val="2B3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237352" y="3167401"/>
            <a:ext cx="5022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GB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BENEFITS</a:t>
            </a:r>
            <a:endParaRPr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7177" y="1116900"/>
            <a:ext cx="3579547" cy="22435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6"/>
          <p:cNvCxnSpPr/>
          <p:nvPr/>
        </p:nvCxnSpPr>
        <p:spPr>
          <a:xfrm flipH="1" rot="10800000">
            <a:off x="6596113" y="2309675"/>
            <a:ext cx="747300" cy="60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3" name="Google Shape;103;p16"/>
          <p:cNvPicPr preferRelativeResize="0"/>
          <p:nvPr/>
        </p:nvPicPr>
        <p:blipFill rotWithShape="1">
          <a:blip r:embed="rId4">
            <a:alphaModFix/>
          </a:blip>
          <a:srcRect b="0" l="0" r="0" t="12557"/>
          <a:stretch/>
        </p:blipFill>
        <p:spPr>
          <a:xfrm>
            <a:off x="6951975" y="1495100"/>
            <a:ext cx="1597675" cy="84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6150" y="2897600"/>
            <a:ext cx="1597675" cy="216911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5" name="Google Shape;105;p16"/>
          <p:cNvPicPr preferRelativeResize="0"/>
          <p:nvPr/>
        </p:nvPicPr>
        <p:blipFill rotWithShape="1">
          <a:blip r:embed="rId6">
            <a:alphaModFix/>
          </a:blip>
          <a:srcRect b="0" l="5303" r="0" t="0"/>
          <a:stretch/>
        </p:blipFill>
        <p:spPr>
          <a:xfrm>
            <a:off x="6175975" y="3471425"/>
            <a:ext cx="1239325" cy="60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6" name="Google Shape;106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67175" y="3056225"/>
            <a:ext cx="1667925" cy="1948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7" name="Google Shape;107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59648" y="1565902"/>
            <a:ext cx="1299572" cy="1005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8" name="Google Shape;108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75963" y="4122050"/>
            <a:ext cx="1239325" cy="8412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B45"/>
          </a:solidFill>
          <a:ln cap="flat" cmpd="sng" w="12700">
            <a:solidFill>
              <a:srgbClr val="1E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320040" y="1097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Useful Quality Gates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7"/>
          <p:cNvPicPr preferRelativeResize="0"/>
          <p:nvPr/>
        </p:nvPicPr>
        <p:blipFill rotWithShape="1">
          <a:blip r:embed="rId3">
            <a:alphaModFix/>
          </a:blip>
          <a:srcRect b="36216" l="11727" r="10252" t="31093"/>
          <a:stretch/>
        </p:blipFill>
        <p:spPr>
          <a:xfrm>
            <a:off x="207550" y="1425650"/>
            <a:ext cx="6181702" cy="9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117600" y="616850"/>
            <a:ext cx="89088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latin typeface="Calibri"/>
                <a:ea typeface="Calibri"/>
                <a:cs typeface="Calibri"/>
                <a:sym typeface="Calibri"/>
              </a:rPr>
              <a:t>A Quality Gate is an automated pass/fail checkpoint in the CI/CD pipeline that blocks a release if the code does not meet defined quality conditions.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20" name="Google Shape;120;p17"/>
          <p:cNvGraphicFramePr/>
          <p:nvPr/>
        </p:nvGraphicFramePr>
        <p:xfrm>
          <a:off x="193700" y="245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{E0CE9831-B36F-4B80-A02C-7AC3AB647303}</a:tableStyleId>
              </a:tblPr>
              <a:tblGrid>
                <a:gridCol w="1535500"/>
                <a:gridCol w="1928025"/>
                <a:gridCol w="1255125"/>
                <a:gridCol w="3763650"/>
              </a:tblGrid>
              <a:tr h="32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Quality Gate</a:t>
                      </a:r>
                      <a:endParaRPr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Threshold </a:t>
                      </a:r>
                      <a:endParaRPr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Result </a:t>
                      </a:r>
                      <a:endParaRPr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 It Matters </a:t>
                      </a:r>
                      <a:endParaRPr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308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Coverage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60%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65.8%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Close to threshold. Untested features reduce this over time.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Duplications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≤ 5%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0.0%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duplication. Reduces maintenance effort and redundancy.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Security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Indicates no security issues were detected.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Reliability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bugs detected. System behaves correctly.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Maintainability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worse than B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minor (10) code smells. Codebase remains easy to change and extend.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Hotspots Reviewed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hotspots or 100% reviewed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hotspots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security hotspots required review.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121" name="Google Shape;121;p17"/>
          <p:cNvGraphicFramePr/>
          <p:nvPr/>
        </p:nvGraphicFramePr>
        <p:xfrm>
          <a:off x="4975525" y="219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{C60ABD88-29C2-4A1A-A379-25C1C19B750E}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B45"/>
          </a:solidFill>
          <a:ln cap="flat" cmpd="sng" w="12700">
            <a:solidFill>
              <a:srgbClr val="1E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320040" y="1097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Weaknesses of SonarQube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320050" y="1074475"/>
            <a:ext cx="4316100" cy="23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 u="sng"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1" sz="1700" u="sng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SonarQube cannot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Verify business logic correctness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Limited ability to detect performance bottlenecks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Cannot reliably detect runtime memory leaks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Limited architectural analysis compared to specialized tools (e.g., jQAssistant)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Static rules may not fully understand framework-specific design intentions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320050" y="4146835"/>
            <a:ext cx="38088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Coverage Limitation: </a:t>
            </a: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High coverage does not guarantee bug-free software.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4788662" y="1133458"/>
            <a:ext cx="4065600" cy="11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Metric Gaming: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Teams can write trivial tests just to hit coverage thresholds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Quality gate passing does not mean code is actually well-tested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4788662" y="2233594"/>
            <a:ext cx="3896700" cy="14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- Small Project Limitation: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Our PetClinic project is too small to trigger many meaningful SonarQube insights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Most metrics show 0 issues — not because the code is perfect, but because the codebase is small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SonarQube becomes truly useful only at larger scale with many contributors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4788644" y="3679999"/>
            <a:ext cx="4065600" cy="11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Context-Insensitive Rules</a:t>
            </a: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: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Rules are generic — no distinction between critical and non-critical code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A violation in a utility class is treated the same as one in core business logic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355600" y="3173340"/>
            <a:ext cx="37377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- False Positives: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Some issues may not be actual problems.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Example: TODO comments are reported as maintainability issues.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B45"/>
          </a:solidFill>
          <a:ln cap="flat" cmpd="sng" w="12700">
            <a:solidFill>
              <a:srgbClr val="1E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320040" y="1097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Future-Proof Software Metrics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320040" y="1202442"/>
            <a:ext cx="8503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5070"/>
              </a:buClr>
              <a:buSzPts val="1100"/>
              <a:buFont typeface="Calibri"/>
              <a:buNone/>
            </a:pPr>
            <a:r>
              <a:rPr b="1" lang="en-GB" sz="1200" u="none" cap="none" strike="noStrike">
                <a:solidFill>
                  <a:srgbClr val="3B5070"/>
                </a:solidFill>
                <a:latin typeface="Calibri"/>
                <a:ea typeface="Calibri"/>
                <a:cs typeface="Calibri"/>
                <a:sym typeface="Calibri"/>
              </a:rPr>
              <a:t>Metrics derived from FPSS lecture concepts and measured via SonarQube and jQAssistant.</a:t>
            </a:r>
            <a:endParaRPr b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5364150" y="1494950"/>
            <a:ext cx="3232200" cy="3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>
                <a:latin typeface="Calibri"/>
                <a:ea typeface="Calibri"/>
                <a:cs typeface="Calibri"/>
                <a:sym typeface="Calibri"/>
              </a:rPr>
              <a:t>Metrics Selected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The selected metrics are based on: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GB" sz="1200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Reuse Factor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GB" sz="1200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Coupling Analysis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GB" sz="1200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Technical Debt Ratio</a:t>
            </a:r>
            <a:endParaRPr sz="1200">
              <a:solidFill>
                <a:srgbClr val="1A2A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●"/>
            </a:pPr>
            <a:r>
              <a:rPr lang="en-GB" sz="1200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Duplication Ratio</a:t>
            </a:r>
            <a:endParaRPr sz="1200">
              <a:solidFill>
                <a:srgbClr val="1A2A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●"/>
            </a:pPr>
            <a:r>
              <a:rPr lang="en-GB" sz="1200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Coverage</a:t>
            </a:r>
            <a:endParaRPr sz="1200">
              <a:solidFill>
                <a:srgbClr val="1A2A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A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Future-Proof Qualities Evaluated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GB" sz="1200">
                <a:latin typeface="Calibri"/>
                <a:ea typeface="Calibri"/>
                <a:cs typeface="Calibri"/>
                <a:sym typeface="Calibri"/>
              </a:rPr>
              <a:t>Reusability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GB" sz="1200">
                <a:latin typeface="Calibri"/>
                <a:ea typeface="Calibri"/>
                <a:cs typeface="Calibri"/>
                <a:sym typeface="Calibri"/>
              </a:rPr>
              <a:t>Maintainability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GB" sz="1200">
                <a:latin typeface="Calibri"/>
                <a:ea typeface="Calibri"/>
                <a:cs typeface="Calibri"/>
                <a:sym typeface="Calibri"/>
              </a:rPr>
              <a:t>Changeability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GB" sz="1200">
                <a:latin typeface="Calibri"/>
                <a:ea typeface="Calibri"/>
                <a:cs typeface="Calibri"/>
                <a:sym typeface="Calibri"/>
              </a:rPr>
              <a:t>Technical Debt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GB" sz="1200">
                <a:latin typeface="Calibri"/>
                <a:ea typeface="Calibri"/>
                <a:cs typeface="Calibri"/>
                <a:sym typeface="Calibri"/>
              </a:rPr>
              <a:t>Architecture Quality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GB" sz="1200">
                <a:latin typeface="Calibri"/>
                <a:ea typeface="Calibri"/>
                <a:cs typeface="Calibri"/>
                <a:sym typeface="Calibri"/>
              </a:rPr>
              <a:t>Encapsulation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6" name="Google Shape;146;p19"/>
          <p:cNvGraphicFramePr/>
          <p:nvPr/>
        </p:nvGraphicFramePr>
        <p:xfrm>
          <a:off x="320050" y="185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{C60ABD88-29C2-4A1A-A379-25C1C19B750E}</a:tableStyleId>
              </a:tblPr>
              <a:tblGrid>
                <a:gridCol w="1658175"/>
                <a:gridCol w="1337850"/>
                <a:gridCol w="1576525"/>
              </a:tblGrid>
              <a:tr h="313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Future-Proof Aspect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B45"/>
                    </a:solidFill>
                  </a:tcPr>
                </a:tc>
              </a:tr>
              <a:tr h="313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1A2A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Reuse Factor</a:t>
                      </a:r>
                      <a:endParaRPr sz="1300">
                        <a:solidFill>
                          <a:srgbClr val="1A2A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1A2A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jQAssistant</a:t>
                      </a:r>
                      <a:endParaRPr sz="1300">
                        <a:solidFill>
                          <a:srgbClr val="1A2A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1A2A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Reusability</a:t>
                      </a:r>
                      <a:endParaRPr sz="1300">
                        <a:solidFill>
                          <a:srgbClr val="1A2A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1A2A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Coupling Analysis</a:t>
                      </a:r>
                      <a:endParaRPr sz="1300">
                        <a:solidFill>
                          <a:srgbClr val="1A2A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1A2A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jQAssistant</a:t>
                      </a:r>
                      <a:endParaRPr sz="1300">
                        <a:solidFill>
                          <a:srgbClr val="1A2A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1A2A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Changeability</a:t>
                      </a:r>
                      <a:endParaRPr sz="1300">
                        <a:solidFill>
                          <a:srgbClr val="1A2A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1A2A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Technical Debt Ratio</a:t>
                      </a:r>
                      <a:endParaRPr sz="1300">
                        <a:solidFill>
                          <a:srgbClr val="1A2A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1A2A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SonarQube</a:t>
                      </a:r>
                      <a:endParaRPr sz="1300">
                        <a:solidFill>
                          <a:srgbClr val="1A2A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1A2A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Maintainability</a:t>
                      </a:r>
                      <a:endParaRPr sz="1300">
                        <a:solidFill>
                          <a:srgbClr val="1A2A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1A2A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Duplication Ratio</a:t>
                      </a:r>
                      <a:endParaRPr sz="1300">
                        <a:solidFill>
                          <a:srgbClr val="1A2A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1A2A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SonarQube</a:t>
                      </a:r>
                      <a:endParaRPr sz="1300">
                        <a:solidFill>
                          <a:srgbClr val="1A2A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1A2A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Architecture Quality</a:t>
                      </a:r>
                      <a:endParaRPr sz="1300">
                        <a:solidFill>
                          <a:srgbClr val="1A2A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1A2A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Coverage</a:t>
                      </a:r>
                      <a:endParaRPr sz="1300">
                        <a:solidFill>
                          <a:srgbClr val="1A2A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1A2A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SonarQube</a:t>
                      </a:r>
                      <a:endParaRPr sz="1300">
                        <a:solidFill>
                          <a:srgbClr val="1A2A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1A2A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Reliability of Evolution</a:t>
                      </a:r>
                      <a:endParaRPr sz="1300">
                        <a:solidFill>
                          <a:srgbClr val="1A2A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5D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B45"/>
          </a:solidFill>
          <a:ln cap="flat" cmpd="sng" w="12700">
            <a:solidFill>
              <a:srgbClr val="1E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320040" y="1097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Reuse Factor Analysis  ·  Q-1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4611150" y="1188500"/>
            <a:ext cx="4367700" cy="3786300"/>
          </a:xfrm>
          <a:prstGeom prst="rect">
            <a:avLst/>
          </a:prstGeom>
          <a:solidFill>
            <a:srgbClr val="F4F8FE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4675650" y="1277900"/>
            <a:ext cx="4238700" cy="3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GB" sz="1100">
                <a:latin typeface="Calibri"/>
                <a:ea typeface="Calibri"/>
                <a:cs typeface="Calibri"/>
                <a:sym typeface="Calibri"/>
              </a:rPr>
              <a:t>69% → Whole Project, 59% → Production System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The difference shows that test code introduces additional dependency relationships and therefore increases the apparent level of reuse.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Future-Proof Software Interpretation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Even after excluding test classes:Reuse Factor = 59%, which means: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More than half of the production classes are reused.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The application exhibits a reasonable level of modularity.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Reusable components reduce future implementation effort.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Reuse supports maintainability and long-term evolution.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20"/>
          <p:cNvPicPr preferRelativeResize="0"/>
          <p:nvPr/>
        </p:nvPicPr>
        <p:blipFill rotWithShape="1">
          <a:blip r:embed="rId3">
            <a:alphaModFix/>
          </a:blip>
          <a:srcRect b="26616" l="27881" r="0" t="17945"/>
          <a:stretch/>
        </p:blipFill>
        <p:spPr>
          <a:xfrm>
            <a:off x="320050" y="1130375"/>
            <a:ext cx="3574500" cy="189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0"/>
          <p:cNvPicPr preferRelativeResize="0"/>
          <p:nvPr/>
        </p:nvPicPr>
        <p:blipFill rotWithShape="1">
          <a:blip r:embed="rId4">
            <a:alphaModFix/>
          </a:blip>
          <a:srcRect b="26568" l="0" r="9821" t="18057"/>
          <a:stretch/>
        </p:blipFill>
        <p:spPr>
          <a:xfrm>
            <a:off x="320050" y="3143386"/>
            <a:ext cx="4052974" cy="18972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20"/>
          <p:cNvCxnSpPr/>
          <p:nvPr/>
        </p:nvCxnSpPr>
        <p:spPr>
          <a:xfrm flipH="1" rot="10800000">
            <a:off x="2144175" y="3854425"/>
            <a:ext cx="876300" cy="5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20"/>
          <p:cNvCxnSpPr>
            <a:endCxn id="160" idx="1"/>
          </p:cNvCxnSpPr>
          <p:nvPr/>
        </p:nvCxnSpPr>
        <p:spPr>
          <a:xfrm flipH="1" rot="10800000">
            <a:off x="1922775" y="2022650"/>
            <a:ext cx="1250100" cy="5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0"/>
          <p:cNvSpPr/>
          <p:nvPr/>
        </p:nvSpPr>
        <p:spPr>
          <a:xfrm>
            <a:off x="4611150" y="4513275"/>
            <a:ext cx="43677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5070"/>
              </a:buClr>
              <a:buSzPts val="950"/>
              <a:buFont typeface="Calibri"/>
              <a:buNone/>
            </a:pPr>
            <a:r>
              <a:rPr b="1" lang="en-GB" sz="1450" u="none" cap="none" strike="noStrike">
                <a:solidFill>
                  <a:srgbClr val="3B5070"/>
                </a:solidFill>
                <a:latin typeface="Calibri"/>
                <a:ea typeface="Calibri"/>
                <a:cs typeface="Calibri"/>
                <a:sym typeface="Calibri"/>
              </a:rPr>
              <a:t>Formula: Reuse Factor = Reused</a:t>
            </a:r>
            <a:r>
              <a:rPr b="1" lang="en-GB" sz="1450">
                <a:solidFill>
                  <a:srgbClr val="3B5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 sz="1450" u="none" cap="none" strike="noStrike">
                <a:solidFill>
                  <a:srgbClr val="3B5070"/>
                </a:solidFill>
                <a:latin typeface="Calibri"/>
                <a:ea typeface="Calibri"/>
                <a:cs typeface="Calibri"/>
                <a:sym typeface="Calibri"/>
              </a:rPr>
              <a:t>Classes / Total Classes</a:t>
            </a:r>
            <a:endParaRPr b="1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3172875" y="1606550"/>
            <a:ext cx="1247700" cy="83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353941"/>
                </a:solidFill>
                <a:latin typeface="Roboto"/>
                <a:ea typeface="Roboto"/>
                <a:cs typeface="Roboto"/>
                <a:sym typeface="Roboto"/>
              </a:rPr>
              <a:t>Production Classes</a:t>
            </a:r>
            <a:endParaRPr b="1" sz="1000">
              <a:solidFill>
                <a:srgbClr val="35394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35394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b="1" sz="1000">
              <a:solidFill>
                <a:srgbClr val="35394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353941"/>
                </a:solidFill>
                <a:latin typeface="Roboto"/>
                <a:ea typeface="Roboto"/>
                <a:cs typeface="Roboto"/>
                <a:sym typeface="Roboto"/>
              </a:rPr>
              <a:t>Test Classes </a:t>
            </a:r>
            <a:endParaRPr b="1" sz="1000">
              <a:solidFill>
                <a:srgbClr val="35394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3020475" y="3468175"/>
            <a:ext cx="1247700" cy="83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353941"/>
                </a:solidFill>
                <a:latin typeface="Roboto"/>
                <a:ea typeface="Roboto"/>
                <a:cs typeface="Roboto"/>
                <a:sym typeface="Roboto"/>
              </a:rPr>
              <a:t>Only </a:t>
            </a:r>
            <a:r>
              <a:rPr b="1" lang="en-GB" sz="1000">
                <a:solidFill>
                  <a:srgbClr val="353941"/>
                </a:solidFill>
                <a:latin typeface="Roboto"/>
                <a:ea typeface="Roboto"/>
                <a:cs typeface="Roboto"/>
                <a:sym typeface="Roboto"/>
              </a:rPr>
              <a:t>Production Classes</a:t>
            </a:r>
            <a:endParaRPr b="1" sz="1000">
              <a:solidFill>
                <a:srgbClr val="35394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B45"/>
          </a:solidFill>
          <a:ln cap="flat" cmpd="sng" w="12700">
            <a:solidFill>
              <a:srgbClr val="1E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320040" y="1097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Most Reused Components  ·  Q-2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5106450" y="1087975"/>
            <a:ext cx="3933900" cy="3952800"/>
          </a:xfrm>
          <a:prstGeom prst="rect">
            <a:avLst/>
          </a:prstGeom>
          <a:solidFill>
            <a:srgbClr val="F4F8FE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latin typeface="Calibri"/>
                <a:ea typeface="Calibri"/>
                <a:cs typeface="Calibri"/>
                <a:sym typeface="Calibri"/>
              </a:rPr>
              <a:t>Interpretation:</a:t>
            </a:r>
            <a:br>
              <a:rPr b="1" lang="en-GB" sz="1100">
                <a:latin typeface="Calibri"/>
                <a:ea typeface="Calibri"/>
                <a:cs typeface="Calibri"/>
                <a:sym typeface="Calibri"/>
              </a:rPr>
            </a:b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After excluding test classes, the reuse count decreases. This gives a more realistic view of the actual application architecture. </a:t>
            </a:r>
            <a:r>
              <a:rPr b="1" lang="en-GB" sz="1100">
                <a:solidFill>
                  <a:srgbClr val="353941"/>
                </a:solidFill>
                <a:latin typeface="Calibri"/>
                <a:ea typeface="Calibri"/>
                <a:cs typeface="Calibri"/>
                <a:sym typeface="Calibri"/>
              </a:rPr>
              <a:t>BaseEntity, Owner, Contract, and Pet</a:t>
            </a: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 are the most reused production assets.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latin typeface="Calibri"/>
                <a:ea typeface="Calibri"/>
                <a:cs typeface="Calibri"/>
                <a:sym typeface="Calibri"/>
              </a:rPr>
              <a:t>Including tests: </a:t>
            </a: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reuse is higher because test classes also depend on domain classes.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Calibri"/>
                <a:ea typeface="Calibri"/>
                <a:cs typeface="Calibri"/>
                <a:sym typeface="Calibri"/>
              </a:rPr>
              <a:t>Production only:</a:t>
            </a: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 reuse is lower but more meaningful for architecture analysis.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Calibri"/>
                <a:ea typeface="Calibri"/>
                <a:cs typeface="Calibri"/>
                <a:sym typeface="Calibri"/>
              </a:rPr>
              <a:t>Future-Proof Interpretation: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The production-only result shows that core domain/model classes are reused across multiple application components. This supports: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modularity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maintainability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reduced duplication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lower future change cost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75" y="3145375"/>
            <a:ext cx="3020475" cy="167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3938" y="3383500"/>
            <a:ext cx="2742039" cy="15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225" y="1138250"/>
            <a:ext cx="3129975" cy="14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95525" y="1558298"/>
            <a:ext cx="2678875" cy="152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/>
          <p:nvPr/>
        </p:nvSpPr>
        <p:spPr>
          <a:xfrm>
            <a:off x="126225" y="2501900"/>
            <a:ext cx="2169300" cy="29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353941"/>
                </a:solidFill>
                <a:latin typeface="Roboto"/>
                <a:ea typeface="Roboto"/>
                <a:cs typeface="Roboto"/>
                <a:sym typeface="Roboto"/>
              </a:rPr>
              <a:t>Production Classes + Test Classes </a:t>
            </a:r>
            <a:endParaRPr b="1" sz="1000">
              <a:solidFill>
                <a:srgbClr val="35394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173175" y="4815600"/>
            <a:ext cx="2075400" cy="22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353941"/>
                </a:solidFill>
                <a:latin typeface="Roboto"/>
                <a:ea typeface="Roboto"/>
                <a:cs typeface="Roboto"/>
                <a:sym typeface="Roboto"/>
              </a:rPr>
              <a:t>Only Production Classes</a:t>
            </a:r>
            <a:endParaRPr b="1" sz="1000">
              <a:solidFill>
                <a:srgbClr val="35394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1E2B45"/>
          </a:solidFill>
          <a:ln cap="flat" cmpd="sng" w="12700">
            <a:solidFill>
              <a:srgbClr val="1E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320040" y="109728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GB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Methods per Class in PetClinic</a:t>
            </a: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Q-</a:t>
            </a:r>
            <a:r>
              <a:rPr b="1" lang="en-GB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5201725" y="1158300"/>
            <a:ext cx="3794700" cy="3591600"/>
          </a:xfrm>
          <a:prstGeom prst="rect">
            <a:avLst/>
          </a:prstGeom>
          <a:solidFill>
            <a:srgbClr val="F4F8FE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87" name="Google Shape;187;p22"/>
          <p:cNvSpPr/>
          <p:nvPr/>
        </p:nvSpPr>
        <p:spPr>
          <a:xfrm>
            <a:off x="5201725" y="1158300"/>
            <a:ext cx="3794700" cy="393600"/>
          </a:xfrm>
          <a:prstGeom prst="rect">
            <a:avLst/>
          </a:prstGeom>
          <a:solidFill>
            <a:srgbClr val="2B3F63"/>
          </a:solidFill>
          <a:ln cap="flat" cmpd="sng" w="12700">
            <a:solidFill>
              <a:srgbClr val="2B3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88" name="Google Shape;188;p22"/>
          <p:cNvSpPr/>
          <p:nvPr/>
        </p:nvSpPr>
        <p:spPr>
          <a:xfrm>
            <a:off x="5280646" y="1220559"/>
            <a:ext cx="31587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INTERPRETATION &amp; FUTURE-PROOF RELEVANCE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5219600" y="1551900"/>
            <a:ext cx="3794700" cy="3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2951" lvl="0" marL="46080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300"/>
              <a:buFont typeface="Calibri"/>
              <a:buChar char="●"/>
            </a:pPr>
            <a:r>
              <a:rPr lang="en-GB" sz="12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r>
              <a:rPr lang="en-GB" sz="1200">
                <a:latin typeface="Calibri"/>
                <a:ea typeface="Calibri"/>
                <a:cs typeface="Calibri"/>
                <a:sym typeface="Calibri"/>
              </a:rPr>
              <a:t> has 21 methods — most complex class, central business entity of the system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12951" lvl="0" marL="46080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300"/>
              <a:buFont typeface="Calibri"/>
              <a:buChar char="●"/>
            </a:pPr>
            <a:r>
              <a:rPr lang="en-GB" sz="12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OwnerController</a:t>
            </a:r>
            <a:r>
              <a:rPr lang="en-GB" sz="1200">
                <a:latin typeface="Calibri"/>
                <a:ea typeface="Calibri"/>
                <a:cs typeface="Calibri"/>
                <a:sym typeface="Calibri"/>
              </a:rPr>
              <a:t> (14) &amp; </a:t>
            </a:r>
            <a:r>
              <a:rPr lang="en-GB" sz="12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Contract</a:t>
            </a:r>
            <a:r>
              <a:rPr lang="en-GB" sz="1200">
                <a:latin typeface="Calibri"/>
                <a:ea typeface="Calibri"/>
                <a:cs typeface="Calibri"/>
                <a:sym typeface="Calibri"/>
              </a:rPr>
              <a:t> (12) reflect new functionality added in Task 1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12951" lvl="0" marL="46080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300"/>
              <a:buFont typeface="Calibri"/>
              <a:buChar char="●"/>
            </a:pPr>
            <a:r>
              <a:rPr lang="en-GB" sz="12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Pet</a:t>
            </a:r>
            <a:r>
              <a:rPr lang="en-GB" sz="1200"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2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Vet</a:t>
            </a:r>
            <a:r>
              <a:rPr lang="en-GB" sz="1200">
                <a:latin typeface="Calibri"/>
                <a:ea typeface="Calibri"/>
                <a:cs typeface="Calibri"/>
                <a:sym typeface="Calibri"/>
              </a:rPr>
              <a:t> (12 each) — core domain classes, method count is appropriate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12951" lvl="0" marL="46080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300"/>
              <a:buFont typeface="Calibri"/>
              <a:buChar char="●"/>
            </a:pPr>
            <a:r>
              <a:rPr lang="en-GB" sz="1200">
                <a:latin typeface="Calibri"/>
                <a:ea typeface="Calibri"/>
                <a:cs typeface="Calibri"/>
                <a:sym typeface="Calibri"/>
              </a:rPr>
              <a:t>Test classes appear in top results — indicates test coverage proportional to complexity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12951" lvl="0" marL="46080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300"/>
              <a:buFont typeface="Calibri"/>
              <a:buChar char="●"/>
            </a:pPr>
            <a:r>
              <a:rPr lang="en-GB" sz="1200">
                <a:latin typeface="Calibri"/>
                <a:ea typeface="Calibri"/>
                <a:cs typeface="Calibri"/>
                <a:sym typeface="Calibri"/>
              </a:rPr>
              <a:t>High-method-count classes are highest maintenance risk — first affected by requirement changes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12951" lvl="0" marL="46080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300"/>
              <a:buFont typeface="Calibri"/>
              <a:buChar char="●"/>
            </a:pPr>
            <a:r>
              <a:rPr lang="en-GB" sz="1200">
                <a:latin typeface="Calibri"/>
                <a:ea typeface="Calibri"/>
                <a:cs typeface="Calibri"/>
                <a:sym typeface="Calibri"/>
              </a:rPr>
              <a:t>Potential God Class candidates — should be monitored and refactored as system scales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60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A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22"/>
          <p:cNvPicPr preferRelativeResize="0"/>
          <p:nvPr/>
        </p:nvPicPr>
        <p:blipFill rotWithShape="1">
          <a:blip r:embed="rId3">
            <a:alphaModFix/>
          </a:blip>
          <a:srcRect b="0" l="0" r="22840" t="0"/>
          <a:stretch/>
        </p:blipFill>
        <p:spPr>
          <a:xfrm>
            <a:off x="152400" y="1158300"/>
            <a:ext cx="4946601" cy="374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1E2B45"/>
          </a:solidFill>
          <a:ln cap="flat" cmpd="sng" w="12700">
            <a:solidFill>
              <a:srgbClr val="1E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3"/>
          <p:cNvSpPr/>
          <p:nvPr/>
        </p:nvSpPr>
        <p:spPr>
          <a:xfrm>
            <a:off x="320040" y="109728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GB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Fields per Class </a:t>
            </a:r>
            <a:r>
              <a:rPr b="1" lang="en-GB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PetClinic</a:t>
            </a: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Q-</a:t>
            </a:r>
            <a:r>
              <a:rPr b="1" lang="en-GB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5201725" y="1158300"/>
            <a:ext cx="3794700" cy="3591600"/>
          </a:xfrm>
          <a:prstGeom prst="rect">
            <a:avLst/>
          </a:prstGeom>
          <a:solidFill>
            <a:srgbClr val="F4F8FE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00" name="Google Shape;200;p23"/>
          <p:cNvSpPr/>
          <p:nvPr/>
        </p:nvSpPr>
        <p:spPr>
          <a:xfrm>
            <a:off x="5201725" y="1158300"/>
            <a:ext cx="3794700" cy="393600"/>
          </a:xfrm>
          <a:prstGeom prst="rect">
            <a:avLst/>
          </a:prstGeom>
          <a:solidFill>
            <a:srgbClr val="2B3F63"/>
          </a:solidFill>
          <a:ln cap="flat" cmpd="sng" w="12700">
            <a:solidFill>
              <a:srgbClr val="2B3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01" name="Google Shape;201;p23"/>
          <p:cNvSpPr/>
          <p:nvPr/>
        </p:nvSpPr>
        <p:spPr>
          <a:xfrm>
            <a:off x="5280646" y="1220559"/>
            <a:ext cx="31587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INTERPRETATION &amp; FUTURE-PROOF RELEVANCE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5219600" y="1551900"/>
            <a:ext cx="3794700" cy="3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2951" lvl="0" marL="46080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300"/>
              <a:buFont typeface="Calibri"/>
              <a:buChar char="●"/>
            </a:pP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Counts </a:t>
            </a:r>
            <a:r>
              <a:rPr b="1" lang="en-GB" sz="1100">
                <a:latin typeface="Calibri"/>
                <a:ea typeface="Calibri"/>
                <a:cs typeface="Calibri"/>
                <a:sym typeface="Calibri"/>
              </a:rPr>
              <a:t>fields per class</a:t>
            </a: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; how much state each class holds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460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312951" lvl="0" marL="46080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300"/>
              <a:buFont typeface="Calibri"/>
              <a:buChar char="●"/>
            </a:pPr>
            <a:r>
              <a:rPr b="1" lang="en-GB" sz="1100">
                <a:latin typeface="Calibri"/>
                <a:ea typeface="Calibri"/>
                <a:cs typeface="Calibri"/>
                <a:sym typeface="Calibri"/>
              </a:rPr>
              <a:t>Field counts are low across the board (max 7)</a:t>
            </a: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; no data-heavy god classes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460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312951" lvl="0" marL="46080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300"/>
              <a:buFont typeface="Calibri"/>
              <a:buChar char="●"/>
            </a:pPr>
            <a:r>
              <a:rPr b="1" lang="en-GB" sz="11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ContractOverviewDto</a:t>
            </a:r>
            <a:r>
              <a:rPr b="1" lang="en-GB" sz="1100">
                <a:latin typeface="Calibri"/>
                <a:ea typeface="Calibri"/>
                <a:cs typeface="Calibri"/>
                <a:sym typeface="Calibri"/>
              </a:rPr>
              <a:t> (7) tops the list; but that's expected</a:t>
            </a: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: a DTO exists to bundle data for display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460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312951" lvl="0" marL="46080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300"/>
              <a:buFont typeface="Calibri"/>
              <a:buChar char="●"/>
            </a:pPr>
            <a:r>
              <a:rPr b="1" lang="en-GB" sz="11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r>
              <a:rPr b="1" lang="en-GB" sz="1100"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11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Contract</a:t>
            </a:r>
            <a:r>
              <a:rPr b="1" lang="en-GB" sz="1100">
                <a:latin typeface="Calibri"/>
                <a:ea typeface="Calibri"/>
                <a:cs typeface="Calibri"/>
                <a:sym typeface="Calibri"/>
              </a:rPr>
              <a:t> (5 each)</a:t>
            </a: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 are highest among real domain classes; also top in methods (Q3), so </a:t>
            </a:r>
            <a:r>
              <a:rPr lang="en-GB" sz="11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 is the main god-class candidate to watch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460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312951" lvl="0" marL="46080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300"/>
              <a:buFont typeface="Calibri"/>
              <a:buChar char="●"/>
            </a:pPr>
            <a:r>
              <a:rPr b="1" lang="en-GB" sz="1100">
                <a:latin typeface="Calibri"/>
                <a:ea typeface="Calibri"/>
                <a:cs typeface="Calibri"/>
                <a:sym typeface="Calibri"/>
              </a:rPr>
              <a:t>Future-Proof Aspect: </a:t>
            </a: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1" lang="en-GB" sz="1100">
                <a:latin typeface="Calibri"/>
                <a:ea typeface="Calibri"/>
                <a:cs typeface="Calibri"/>
                <a:sym typeface="Calibri"/>
              </a:rPr>
              <a:t>Maintainability</a:t>
            </a: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 low state complexity now prevents god classes later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460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880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0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A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4" name="Google Shape;2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58300"/>
            <a:ext cx="4896924" cy="3604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B45"/>
          </a:solidFill>
          <a:ln cap="flat" cmpd="sng" w="12700">
            <a:solidFill>
              <a:srgbClr val="1E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4"/>
          <p:cNvSpPr/>
          <p:nvPr/>
        </p:nvSpPr>
        <p:spPr>
          <a:xfrm>
            <a:off x="320040" y="1097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Coupling Analysis  ·  Q-</a:t>
            </a:r>
            <a:r>
              <a:rPr b="1" lang="en-GB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4"/>
          <p:cNvSpPr/>
          <p:nvPr/>
        </p:nvSpPr>
        <p:spPr>
          <a:xfrm>
            <a:off x="4790025" y="1143000"/>
            <a:ext cx="4219800" cy="3744000"/>
          </a:xfrm>
          <a:prstGeom prst="rect">
            <a:avLst/>
          </a:prstGeom>
          <a:solidFill>
            <a:srgbClr val="F4F8FE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100"/>
              <a:t>Interpretation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No class exhibits excessive dependency on other components.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The dependency structure is </a:t>
            </a:r>
            <a:r>
              <a:rPr b="1" lang="en-GB" sz="1100"/>
              <a:t>relatively lightweight.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Changes are less likely to propagate across many components.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The architecture demonstrates </a:t>
            </a:r>
            <a:r>
              <a:rPr b="1" lang="en-GB" sz="1100"/>
              <a:t>moderate coupling</a:t>
            </a:r>
            <a:r>
              <a:rPr lang="en-GB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100"/>
              <a:t>Future-Proof Relevance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Lower coupling improves maintainability.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Components can </a:t>
            </a:r>
            <a:r>
              <a:rPr b="1" lang="en-GB" sz="1100"/>
              <a:t>evolve more independently.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Changes become </a:t>
            </a:r>
            <a:r>
              <a:rPr b="1" lang="en-GB" sz="1100"/>
              <a:t>easier to implement and test.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Reduced coupling </a:t>
            </a:r>
            <a:r>
              <a:rPr b="1" lang="en-GB" sz="1100"/>
              <a:t>lowers</a:t>
            </a:r>
            <a:r>
              <a:rPr lang="en-GB" sz="1100"/>
              <a:t> the risk of </a:t>
            </a:r>
            <a:r>
              <a:rPr b="1" lang="en-GB" sz="1100"/>
              <a:t>architecture erosion </a:t>
            </a:r>
            <a:r>
              <a:rPr lang="en-GB" sz="1100"/>
              <a:t>over time.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13" name="Google Shape;213;p24"/>
          <p:cNvSpPr/>
          <p:nvPr/>
        </p:nvSpPr>
        <p:spPr>
          <a:xfrm>
            <a:off x="320040" y="4361688"/>
            <a:ext cx="54864" cy="4572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150" y="1158250"/>
            <a:ext cx="4045175" cy="37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B45"/>
          </a:solidFill>
          <a:ln cap="flat" cmpd="sng" w="12700">
            <a:solidFill>
              <a:srgbClr val="1E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5"/>
          <p:cNvSpPr/>
          <p:nvPr/>
        </p:nvSpPr>
        <p:spPr>
          <a:xfrm>
            <a:off x="320040" y="1097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Reuse Cost-Benefit Relation  ·  Q-</a:t>
            </a:r>
            <a:r>
              <a:rPr b="1" lang="en-GB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4163475" y="1263025"/>
            <a:ext cx="4705500" cy="3685800"/>
          </a:xfrm>
          <a:prstGeom prst="rect">
            <a:avLst/>
          </a:prstGeom>
          <a:solidFill>
            <a:srgbClr val="F4F8FE"/>
          </a:solidFill>
          <a:ln cap="flat" cmpd="sng" w="9525">
            <a:solidFill>
              <a:srgbClr val="3539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latin typeface="Calibri"/>
                <a:ea typeface="Calibri"/>
                <a:cs typeface="Calibri"/>
                <a:sym typeface="Calibri"/>
              </a:rPr>
              <a:t>Cost-Benefit Perspective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Each shared component serves approximately </a:t>
            </a:r>
            <a:r>
              <a:rPr b="1" lang="en-GB" sz="1000">
                <a:latin typeface="Calibri"/>
                <a:ea typeface="Calibri"/>
                <a:cs typeface="Calibri"/>
                <a:sym typeface="Calibri"/>
              </a:rPr>
              <a:t>2.8 consumers</a:t>
            </a: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 on average.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Components are reused across multiple parts of the system rather than being single-use.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Reuse</a:t>
            </a:r>
            <a:r>
              <a:rPr b="1" lang="en-GB" sz="1000">
                <a:latin typeface="Calibri"/>
                <a:ea typeface="Calibri"/>
                <a:cs typeface="Calibri"/>
                <a:sym typeface="Calibri"/>
              </a:rPr>
              <a:t> increases the return on development effort</a:t>
            </a: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 invested in shared assets.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Reusable abstractions </a:t>
            </a:r>
            <a:r>
              <a:rPr b="1" lang="en-GB" sz="1000">
                <a:latin typeface="Calibri"/>
                <a:ea typeface="Calibri"/>
                <a:cs typeface="Calibri"/>
                <a:sym typeface="Calibri"/>
              </a:rPr>
              <a:t>reduce redundant</a:t>
            </a: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 implementation work.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The benefits of reuse grow as the </a:t>
            </a:r>
            <a:r>
              <a:rPr b="1" lang="en-GB" sz="1000">
                <a:latin typeface="Calibri"/>
                <a:ea typeface="Calibri"/>
                <a:cs typeface="Calibri"/>
                <a:sym typeface="Calibri"/>
              </a:rPr>
              <a:t>system evolves and scales.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latin typeface="Calibri"/>
                <a:ea typeface="Calibri"/>
                <a:cs typeface="Calibri"/>
                <a:sym typeface="Calibri"/>
              </a:rPr>
              <a:t>Future-Proof Relevance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Improves </a:t>
            </a:r>
            <a:r>
              <a:rPr b="1" lang="en-GB" sz="1000">
                <a:latin typeface="Calibri"/>
                <a:ea typeface="Calibri"/>
                <a:cs typeface="Calibri"/>
                <a:sym typeface="Calibri"/>
              </a:rPr>
              <a:t>maintainability </a:t>
            </a: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through shared and consistent implementations.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Reduces duplication and simplifies future modifications.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Supports </a:t>
            </a:r>
            <a:r>
              <a:rPr b="1" lang="en-GB" sz="1000">
                <a:latin typeface="Calibri"/>
                <a:ea typeface="Calibri"/>
                <a:cs typeface="Calibri"/>
                <a:sym typeface="Calibri"/>
              </a:rPr>
              <a:t>modular software evolution</a:t>
            </a: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Enables</a:t>
            </a:r>
            <a:r>
              <a:rPr b="1" lang="en-GB" sz="1000">
                <a:latin typeface="Calibri"/>
                <a:ea typeface="Calibri"/>
                <a:cs typeface="Calibri"/>
                <a:sym typeface="Calibri"/>
              </a:rPr>
              <a:t> lower long-term maintenance costs.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Contributes to sustainable and future-proof software architecture.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53941"/>
              </a:solidFill>
            </a:endParaRPr>
          </a:p>
        </p:txBody>
      </p:sp>
      <p:pic>
        <p:nvPicPr>
          <p:cNvPr id="224" name="Google Shape;224;p25"/>
          <p:cNvPicPr preferRelativeResize="0"/>
          <p:nvPr/>
        </p:nvPicPr>
        <p:blipFill rotWithShape="1">
          <a:blip r:embed="rId3">
            <a:alphaModFix/>
          </a:blip>
          <a:srcRect b="0" l="28633" r="0" t="0"/>
          <a:stretch/>
        </p:blipFill>
        <p:spPr>
          <a:xfrm>
            <a:off x="172500" y="1263025"/>
            <a:ext cx="3886200" cy="3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1E2B45"/>
          </a:solidFill>
          <a:ln cap="flat" cmpd="sng" w="12700">
            <a:solidFill>
              <a:srgbClr val="1E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6"/>
          <p:cNvSpPr/>
          <p:nvPr/>
        </p:nvSpPr>
        <p:spPr>
          <a:xfrm>
            <a:off x="320040" y="109728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Visibility of Methods (public vs private) · Q-7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34" name="Google Shape;234;p26" title="Screenshot 2026-06-01 1728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704" y="1171900"/>
            <a:ext cx="5141051" cy="368629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6"/>
          <p:cNvSpPr txBox="1"/>
          <p:nvPr>
            <p:ph idx="4294967295" type="body"/>
          </p:nvPr>
        </p:nvSpPr>
        <p:spPr>
          <a:xfrm>
            <a:off x="5619654" y="1171900"/>
            <a:ext cx="3273900" cy="3538200"/>
          </a:xfrm>
          <a:prstGeom prst="rect">
            <a:avLst/>
          </a:prstGeom>
          <a:solidFill>
            <a:srgbClr val="F4F8F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-GB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Measures public vs private method ratio per class to evaluate encapsulation quality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-GB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 out of 10 classes have 0 private methods</a:t>
            </a:r>
            <a:r>
              <a:rPr lang="en-GB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-GB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r>
              <a:rPr lang="en-GB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(14 public, 0 private) is the most over-exposed class in the project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-GB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Contract, Item and UsedItem</a:t>
            </a:r>
            <a:r>
              <a:rPr lang="en-GB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— our added classes — also have 0 private methods, making future changes risky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 </a:t>
            </a:r>
            <a:r>
              <a:rPr b="1" lang="en-GB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OwnerController</a:t>
            </a:r>
            <a:r>
              <a:rPr lang="en-GB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(2 private) and </a:t>
            </a:r>
            <a:r>
              <a:rPr b="1" lang="en-GB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ContractHandler</a:t>
            </a:r>
            <a:r>
              <a:rPr lang="en-GB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(1 private) show minimal encapsulation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6"/>
          <p:cNvSpPr/>
          <p:nvPr/>
        </p:nvSpPr>
        <p:spPr>
          <a:xfrm>
            <a:off x="5629404" y="1171900"/>
            <a:ext cx="3254400" cy="500100"/>
          </a:xfrm>
          <a:prstGeom prst="rect">
            <a:avLst/>
          </a:prstGeom>
          <a:solidFill>
            <a:srgbClr val="2B3F6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b="1" lang="en-GB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INTERPRETATION &amp; FUTURE-PROOF RELEVANCE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1E2B45"/>
          </a:solidFill>
          <a:ln cap="flat" cmpd="sng" w="12700">
            <a:solidFill>
              <a:srgbClr val="1E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7"/>
          <p:cNvSpPr/>
          <p:nvPr/>
        </p:nvSpPr>
        <p:spPr>
          <a:xfrm>
            <a:off x="320040" y="109728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Visibility of Fields</a:t>
            </a:r>
            <a:r>
              <a:rPr b="1" lang="en-GB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(public vs private fields)</a:t>
            </a:r>
            <a:r>
              <a:rPr b="1" lang="en-GB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Q-8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45" name="Google Shape;24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5575"/>
            <a:ext cx="4307751" cy="388762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7"/>
          <p:cNvSpPr/>
          <p:nvPr/>
        </p:nvSpPr>
        <p:spPr>
          <a:xfrm>
            <a:off x="4886225" y="1230900"/>
            <a:ext cx="3776400" cy="513600"/>
          </a:xfrm>
          <a:prstGeom prst="rect">
            <a:avLst/>
          </a:prstGeom>
          <a:solidFill>
            <a:srgbClr val="2B3F6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b="1"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INTERPRETATION &amp; FUTURE-PROOF RELEVANCE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7"/>
          <p:cNvSpPr txBox="1"/>
          <p:nvPr/>
        </p:nvSpPr>
        <p:spPr>
          <a:xfrm>
            <a:off x="4886231" y="1807939"/>
            <a:ext cx="3776400" cy="29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Measures </a:t>
            </a:r>
            <a:r>
              <a:rPr b="1" lang="en-GB" sz="1000">
                <a:latin typeface="Calibri"/>
                <a:ea typeface="Calibri"/>
                <a:cs typeface="Calibri"/>
                <a:sym typeface="Calibri"/>
              </a:rPr>
              <a:t>field-level encapsulation</a:t>
            </a: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; whether data is </a:t>
            </a:r>
            <a:r>
              <a:rPr lang="en-GB" sz="10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private</a:t>
            </a: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 (protected) or </a:t>
            </a:r>
            <a:r>
              <a:rPr lang="en-GB" sz="10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 (exposed)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b="1" lang="en-GB" sz="1000">
                <a:latin typeface="Calibri"/>
                <a:ea typeface="Calibri"/>
                <a:cs typeface="Calibri"/>
                <a:sym typeface="Calibri"/>
              </a:rPr>
              <a:t>9 of 10 classes have 0 public fields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b="1" lang="en-GB" sz="10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r>
              <a:rPr b="1" lang="en-GB" sz="1000">
                <a:latin typeface="Calibri"/>
                <a:ea typeface="Calibri"/>
                <a:cs typeface="Calibri"/>
                <a:sym typeface="Calibri"/>
              </a:rPr>
              <a:t> exposes one public field, </a:t>
            </a:r>
            <a:r>
              <a:rPr b="1" lang="en-GB" sz="10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bookedServices</a:t>
            </a: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 (its list of contracts), not a constant, a real leaked instance field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Any class can read/modify it directly, so the list can't be validated, logged, or refactored safely later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1E2B45"/>
          </a:solidFill>
          <a:ln cap="flat" cmpd="sng" w="12700">
            <a:solidFill>
              <a:srgbClr val="1E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8"/>
          <p:cNvSpPr/>
          <p:nvPr/>
        </p:nvSpPr>
        <p:spPr>
          <a:xfrm>
            <a:off x="320040" y="109728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Inheritance Depth (DIT)</a:t>
            </a:r>
            <a:r>
              <a:rPr b="1" lang="en-GB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Q-9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56" name="Google Shape;256;p28"/>
          <p:cNvPicPr preferRelativeResize="0"/>
          <p:nvPr/>
        </p:nvPicPr>
        <p:blipFill rotWithShape="1">
          <a:blip r:embed="rId3">
            <a:alphaModFix/>
          </a:blip>
          <a:srcRect b="0" l="0" r="38310" t="0"/>
          <a:stretch/>
        </p:blipFill>
        <p:spPr>
          <a:xfrm>
            <a:off x="143375" y="1250265"/>
            <a:ext cx="4954998" cy="3559426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8"/>
          <p:cNvSpPr/>
          <p:nvPr/>
        </p:nvSpPr>
        <p:spPr>
          <a:xfrm>
            <a:off x="5269825" y="1357050"/>
            <a:ext cx="3552600" cy="623700"/>
          </a:xfrm>
          <a:prstGeom prst="rect">
            <a:avLst/>
          </a:prstGeom>
          <a:solidFill>
            <a:srgbClr val="2B3F6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b="1"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INTERPRETATION &amp; FUTURE-PROOF RELEVANCE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8"/>
          <p:cNvSpPr txBox="1"/>
          <p:nvPr/>
        </p:nvSpPr>
        <p:spPr>
          <a:xfrm>
            <a:off x="5244875" y="2105550"/>
            <a:ext cx="3776400" cy="29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Measures </a:t>
            </a:r>
            <a:r>
              <a:rPr b="1" lang="en-GB" sz="1000">
                <a:latin typeface="Calibri"/>
                <a:ea typeface="Calibri"/>
                <a:cs typeface="Calibri"/>
                <a:sym typeface="Calibri"/>
              </a:rPr>
              <a:t>Depth of Inheritance Tree (DIT)</a:t>
            </a: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; how many levels a class sits above its base class; to evaluate hierarchy complexity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b="1" lang="en-GB" sz="1000">
                <a:latin typeface="Calibri"/>
                <a:ea typeface="Calibri"/>
                <a:cs typeface="Calibri"/>
                <a:sym typeface="Calibri"/>
              </a:rPr>
              <a:t>Maximum depth is only 3</a:t>
            </a: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 across the whole project; a shallow, healthy hierarchy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b="1" lang="en-GB" sz="1000">
                <a:latin typeface="Calibri"/>
                <a:ea typeface="Calibri"/>
                <a:cs typeface="Calibri"/>
                <a:sym typeface="Calibri"/>
              </a:rPr>
              <a:t>Pet, Vet, Owner, Specialty, PetType (depth 3)</a:t>
            </a: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 all inherit through the chain </a:t>
            </a:r>
            <a:r>
              <a:rPr lang="en-GB" sz="10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BaseEntity → NamedEntity → Person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Shallow inheritance; a base-class edit ripples to fewer descendants; </a:t>
            </a:r>
            <a:r>
              <a:rPr b="1" lang="en-GB" sz="1000">
                <a:latin typeface="Calibri"/>
                <a:ea typeface="Calibri"/>
                <a:cs typeface="Calibri"/>
                <a:sym typeface="Calibri"/>
              </a:rPr>
              <a:t>easier, safer changes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Deep trees (DIT &gt; 5) are a future-proof risk; PetClinic stays well within safe limits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1E2B45"/>
          </a:solidFill>
          <a:ln cap="flat" cmpd="sng" w="12700">
            <a:solidFill>
              <a:srgbClr val="1E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9"/>
          <p:cNvSpPr/>
          <p:nvPr/>
        </p:nvSpPr>
        <p:spPr>
          <a:xfrm>
            <a:off x="320040" y="109728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Query Findings &amp; Future-Proof Verdict</a:t>
            </a:r>
            <a:endParaRPr b="1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7" name="Google Shape;267;p29"/>
          <p:cNvSpPr txBox="1"/>
          <p:nvPr>
            <p:ph idx="4294967295" type="body"/>
          </p:nvPr>
        </p:nvSpPr>
        <p:spPr>
          <a:xfrm>
            <a:off x="4176300" y="1135775"/>
            <a:ext cx="4771500" cy="37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43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Findings </a:t>
            </a:r>
            <a:endParaRPr b="1" sz="43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queries</a:t>
            </a:r>
            <a:r>
              <a:rPr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across 4 future-proof factors; complements SonarQube</a:t>
            </a:r>
            <a:endParaRPr sz="4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686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Reusability: </a:t>
            </a:r>
            <a:r>
              <a:rPr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69% → Whole Project, 59% → Production System</a:t>
            </a:r>
            <a:endParaRPr sz="4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68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Maintainability: </a:t>
            </a:r>
            <a:r>
              <a:rPr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 method/field counts, no god classes</a:t>
            </a:r>
            <a:endParaRPr sz="4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68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Changeability: </a:t>
            </a:r>
            <a:r>
              <a:rPr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 coupling dependency (max 4), shallow inheritance (depth 3)</a:t>
            </a:r>
            <a:endParaRPr sz="4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68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AutoNum type="arabicPeriod"/>
            </a:pPr>
            <a:r>
              <a:rPr b="1"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Encapsulation: </a:t>
            </a:r>
            <a:r>
              <a:rPr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Fields well protected; but methods are mostly public, more private helper methods would make it more future proof</a:t>
            </a:r>
            <a:endParaRPr sz="4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43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Weaknesses</a:t>
            </a:r>
            <a:endParaRPr b="1" sz="43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686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Methods are mostly public</a:t>
            </a:r>
            <a:r>
              <a:rPr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8/10 classes have 0 private methods (Owner: 14 public/0 private)</a:t>
            </a:r>
            <a:endParaRPr sz="4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68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Leaked field</a:t>
            </a:r>
            <a:r>
              <a:rPr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Owner.bookedServices is public; editable without validation</a:t>
            </a:r>
            <a:endParaRPr sz="4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68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Owner can be a god-class candidate</a:t>
            </a:r>
            <a:r>
              <a:rPr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highest in methods (21) and among the top in fields (5)</a:t>
            </a:r>
            <a:endParaRPr sz="4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68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 gaps</a:t>
            </a:r>
            <a:r>
              <a:rPr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65.8% coverage; contract feature least covered</a:t>
            </a:r>
            <a:endParaRPr sz="4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68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Small-project limits</a:t>
            </a:r>
            <a:r>
              <a:rPr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GB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a small codebase, metrics reveal less than on a large system</a:t>
            </a:r>
            <a:endParaRPr sz="4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68" name="Google Shape;268;p29"/>
          <p:cNvGraphicFramePr/>
          <p:nvPr/>
        </p:nvGraphicFramePr>
        <p:xfrm>
          <a:off x="209400" y="14085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{E0CE9831-B36F-4B80-A02C-7AC3AB647303}</a:tableStyleId>
              </a:tblPr>
              <a:tblGrid>
                <a:gridCol w="1202225"/>
                <a:gridCol w="2532225"/>
              </a:tblGrid>
              <a:tr h="50995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Future Proof aspect covered 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Queries 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49037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Reusability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Q1 (Reuse Factor), Q2 (Most Reused),              Q6 (Reuse Cost-Benefit)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872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Maintainability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Q3 (Methods per Class), Q4 (Fields per Class)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6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Changeability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Q5 (Coupling), Q9 (Inheritance Depth)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37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Encapsulation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Q7 (Method Visibility), Q8 (Field Visibility)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B45"/>
          </a:solidFill>
          <a:ln cap="flat" cmpd="sng" w="12700">
            <a:solidFill>
              <a:srgbClr val="1E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0"/>
          <p:cNvSpPr/>
          <p:nvPr/>
        </p:nvSpPr>
        <p:spPr>
          <a:xfrm>
            <a:off x="320040" y="1097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Debt &amp; Maintainability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0"/>
          <p:cNvSpPr/>
          <p:nvPr/>
        </p:nvSpPr>
        <p:spPr>
          <a:xfrm>
            <a:off x="457200" y="1191000"/>
            <a:ext cx="5001600" cy="3768300"/>
          </a:xfrm>
          <a:prstGeom prst="rect">
            <a:avLst/>
          </a:prstGeom>
          <a:solidFill>
            <a:srgbClr val="F4F8FE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0"/>
          <p:cNvSpPr/>
          <p:nvPr/>
        </p:nvSpPr>
        <p:spPr>
          <a:xfrm>
            <a:off x="628654" y="1297513"/>
            <a:ext cx="841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GB" sz="1300" u="none" cap="none" strike="noStrike">
                <a:latin typeface="Calibri"/>
                <a:ea typeface="Calibri"/>
                <a:cs typeface="Calibri"/>
                <a:sym typeface="Calibri"/>
              </a:rPr>
              <a:t>INTERPRETATION &amp; FUTURE-PROOF RELEVANCE</a:t>
            </a:r>
            <a:endParaRPr b="0" i="0" sz="13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0"/>
          <p:cNvSpPr/>
          <p:nvPr/>
        </p:nvSpPr>
        <p:spPr>
          <a:xfrm>
            <a:off x="457200" y="1604850"/>
            <a:ext cx="4734900" cy="3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Only </a:t>
            </a:r>
            <a:r>
              <a:rPr b="1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1h 15min effort </a:t>
            </a:r>
            <a:r>
              <a:rPr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needed to resolve all identified maintainability issues</a:t>
            </a:r>
            <a:endParaRPr i="0" sz="1200" u="none" cap="none" strike="noStrike">
              <a:solidFill>
                <a:srgbClr val="1A2A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A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b="1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10 minor code smells</a:t>
            </a:r>
            <a:r>
              <a:rPr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200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 no bugs, no security vulnerabilities, but </a:t>
            </a:r>
            <a:r>
              <a:rPr lang="en-GB" sz="1100">
                <a:latin typeface="Calibri"/>
                <a:ea typeface="Calibri"/>
                <a:cs typeface="Calibri"/>
                <a:sym typeface="Calibri"/>
              </a:rPr>
              <a:t>TODO comments are reported as maintainability issues.</a:t>
            </a:r>
            <a:endParaRPr sz="1200">
              <a:solidFill>
                <a:srgbClr val="1A2A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A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Char char="•"/>
            </a:pPr>
            <a:r>
              <a:rPr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0.2% debt ratio </a:t>
            </a:r>
            <a:r>
              <a:rPr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means developers spend almost no time fighting the codebase</a:t>
            </a:r>
            <a:endParaRPr i="0" sz="1200" u="none" cap="none" strike="noStrike">
              <a:solidFill>
                <a:srgbClr val="1A2A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A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Low technical debt reduces future maintenance costs and </a:t>
            </a:r>
            <a:r>
              <a:rPr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improves adaptability</a:t>
            </a:r>
            <a:endParaRPr i="0" sz="1200" u="none" cap="none" strike="noStrike">
              <a:solidFill>
                <a:srgbClr val="1A2A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A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200"/>
              <a:buFont typeface="Calibri"/>
              <a:buChar char="•"/>
            </a:pPr>
            <a:r>
              <a:rPr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Debt accumulates silently </a:t>
            </a:r>
            <a:r>
              <a:rPr lang="en-GB" sz="1200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i="0" lang="en-GB" sz="1200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 keeping it low now prevents exponential future cost</a:t>
            </a:r>
            <a:endParaRPr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4050" y="1084215"/>
            <a:ext cx="3263350" cy="37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B45"/>
          </a:solidFill>
          <a:ln cap="flat" cmpd="sng" w="12700">
            <a:solidFill>
              <a:srgbClr val="1E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87" name="Google Shape;287;p31"/>
          <p:cNvSpPr/>
          <p:nvPr/>
        </p:nvSpPr>
        <p:spPr>
          <a:xfrm>
            <a:off x="320040" y="1097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 &amp; Overall Assessment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1"/>
          <p:cNvSpPr/>
          <p:nvPr/>
        </p:nvSpPr>
        <p:spPr>
          <a:xfrm>
            <a:off x="320040" y="1143000"/>
            <a:ext cx="4160520" cy="2651760"/>
          </a:xfrm>
          <a:prstGeom prst="rect">
            <a:avLst/>
          </a:prstGeom>
          <a:solidFill>
            <a:srgbClr val="F4F8FE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89" name="Google Shape;289;p31"/>
          <p:cNvSpPr/>
          <p:nvPr/>
        </p:nvSpPr>
        <p:spPr>
          <a:xfrm>
            <a:off x="320040" y="1143000"/>
            <a:ext cx="4160520" cy="256032"/>
          </a:xfrm>
          <a:prstGeom prst="rect">
            <a:avLst/>
          </a:prstGeom>
          <a:solidFill>
            <a:srgbClr val="2B3F63"/>
          </a:solidFill>
          <a:ln cap="flat" cmpd="sng" w="12700">
            <a:solidFill>
              <a:srgbClr val="2B3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90" name="Google Shape;290;p31"/>
          <p:cNvSpPr/>
          <p:nvPr/>
        </p:nvSpPr>
        <p:spPr>
          <a:xfrm>
            <a:off x="393192" y="1161288"/>
            <a:ext cx="4069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SONARQUBE FINDINGS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1"/>
          <p:cNvSpPr/>
          <p:nvPr/>
        </p:nvSpPr>
        <p:spPr>
          <a:xfrm>
            <a:off x="548625" y="1426471"/>
            <a:ext cx="39318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2A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2A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400"/>
              <a:buFont typeface="Calibri"/>
              <a:buChar char="•"/>
            </a:pPr>
            <a:r>
              <a:rPr b="0" i="0" lang="en-GB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Quality Gate: Passed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400"/>
              <a:buFont typeface="Calibri"/>
              <a:buChar char="•"/>
            </a:pPr>
            <a:r>
              <a:rPr b="0" i="0" lang="en-GB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Coverage: 65.8%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400"/>
              <a:buFont typeface="Calibri"/>
              <a:buChar char="•"/>
            </a:pPr>
            <a:r>
              <a:rPr b="0" i="0" lang="en-GB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Duplication: 0%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400"/>
              <a:buFont typeface="Calibri"/>
              <a:buChar char="•"/>
            </a:pPr>
            <a:r>
              <a:rPr b="0" i="0" lang="en-GB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Technical Debt Ratio: 0.2%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400"/>
              <a:buFont typeface="Calibri"/>
              <a:buChar char="•"/>
            </a:pPr>
            <a:r>
              <a:rPr b="0" i="0" lang="en-GB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Maintainability Rating: 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400"/>
              <a:buFont typeface="Calibri"/>
              <a:buChar char="•"/>
            </a:pPr>
            <a:r>
              <a:rPr b="0" i="0" lang="en-GB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Security Rating: 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1"/>
          <p:cNvSpPr/>
          <p:nvPr/>
        </p:nvSpPr>
        <p:spPr>
          <a:xfrm>
            <a:off x="4663440" y="1143000"/>
            <a:ext cx="4160520" cy="2651760"/>
          </a:xfrm>
          <a:prstGeom prst="rect">
            <a:avLst/>
          </a:prstGeom>
          <a:solidFill>
            <a:srgbClr val="F4F8FE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93" name="Google Shape;293;p31"/>
          <p:cNvSpPr/>
          <p:nvPr/>
        </p:nvSpPr>
        <p:spPr>
          <a:xfrm>
            <a:off x="4663440" y="1143000"/>
            <a:ext cx="4160520" cy="256032"/>
          </a:xfrm>
          <a:prstGeom prst="rect">
            <a:avLst/>
          </a:prstGeom>
          <a:solidFill>
            <a:srgbClr val="2B3F63"/>
          </a:solidFill>
          <a:ln cap="flat" cmpd="sng" w="12700">
            <a:solidFill>
              <a:srgbClr val="2B3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94" name="Google Shape;294;p31"/>
          <p:cNvSpPr/>
          <p:nvPr/>
        </p:nvSpPr>
        <p:spPr>
          <a:xfrm>
            <a:off x="4736592" y="1161288"/>
            <a:ext cx="4069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JQASSISTANT FINDINGS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1"/>
          <p:cNvSpPr/>
          <p:nvPr/>
        </p:nvSpPr>
        <p:spPr>
          <a:xfrm>
            <a:off x="4873750" y="1426471"/>
            <a:ext cx="39318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2A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2A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A40"/>
              </a:buClr>
              <a:buSzPts val="1400"/>
              <a:buFont typeface="Calibri"/>
              <a:buChar char="•"/>
            </a:pPr>
            <a:r>
              <a:rPr b="0" i="0" lang="en-GB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Reuse Factor: </a:t>
            </a:r>
            <a:r>
              <a:rPr lang="en-GB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GB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9%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400"/>
              <a:buFont typeface="Calibri"/>
              <a:buChar char="•"/>
            </a:pPr>
            <a:r>
              <a:rPr b="0" i="0" lang="en-GB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Average Reuse per Asset: 2.79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400"/>
              <a:buFont typeface="Calibri"/>
              <a:buChar char="•"/>
            </a:pPr>
            <a:r>
              <a:rPr b="0" i="0" lang="en-GB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Low production coupling </a:t>
            </a:r>
            <a:endParaRPr>
              <a:solidFill>
                <a:srgbClr val="1A2A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400"/>
              <a:buFont typeface="Calibri"/>
              <a:buChar char="•"/>
            </a:pPr>
            <a:r>
              <a:rPr b="0" i="0" lang="en-GB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Clear and coherent domain model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A40"/>
              </a:buClr>
              <a:buSzPts val="1400"/>
              <a:buFont typeface="Calibri"/>
              <a:buChar char="•"/>
            </a:pPr>
            <a:r>
              <a:rPr b="0" i="0" lang="en-GB" u="none" cap="none" strike="noStrike">
                <a:solidFill>
                  <a:srgbClr val="1A2A40"/>
                </a:solidFill>
                <a:latin typeface="Calibri"/>
                <a:ea typeface="Calibri"/>
                <a:cs typeface="Calibri"/>
                <a:sym typeface="Calibri"/>
              </a:rPr>
              <a:t>Core entities correctly shared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1"/>
          <p:cNvSpPr/>
          <p:nvPr/>
        </p:nvSpPr>
        <p:spPr>
          <a:xfrm>
            <a:off x="320040" y="3913632"/>
            <a:ext cx="8503920" cy="914400"/>
          </a:xfrm>
          <a:prstGeom prst="rect">
            <a:avLst/>
          </a:prstGeom>
          <a:solidFill>
            <a:srgbClr val="1E2B45"/>
          </a:solidFill>
          <a:ln cap="flat" cmpd="sng" w="12700">
            <a:solidFill>
              <a:srgbClr val="1E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97" name="Google Shape;297;p31"/>
          <p:cNvSpPr/>
          <p:nvPr/>
        </p:nvSpPr>
        <p:spPr>
          <a:xfrm>
            <a:off x="457200" y="393192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FC1"/>
              </a:buClr>
              <a:buSzPts val="1000"/>
              <a:buFont typeface="Calibri"/>
              <a:buNone/>
            </a:pPr>
            <a:r>
              <a:rPr b="1" i="0" lang="en-GB" sz="1200" u="none" cap="none" strike="noStrike">
                <a:solidFill>
                  <a:srgbClr val="4A7FC1"/>
                </a:solidFill>
                <a:latin typeface="Calibri"/>
                <a:ea typeface="Calibri"/>
                <a:cs typeface="Calibri"/>
                <a:sym typeface="Calibri"/>
              </a:rPr>
              <a:t>Overall Assessment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1"/>
          <p:cNvSpPr/>
          <p:nvPr/>
        </p:nvSpPr>
        <p:spPr>
          <a:xfrm>
            <a:off x="457200" y="4178808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lang="en-GB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project demonstrates strong reusability, low technical debt, good maintainability, and reasonable test coverage — supporting the principles of Future-Proof Software Systems.</a:t>
            </a:r>
            <a:endParaRPr b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1"/>
          <p:cNvSpPr txBox="1"/>
          <p:nvPr/>
        </p:nvSpPr>
        <p:spPr>
          <a:xfrm>
            <a:off x="58800" y="-199900"/>
            <a:ext cx="5347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